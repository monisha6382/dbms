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377440" cy="2743200"/>
          </a:xfrm>
          <a:prstGeom prst="can">
            <a:avLst/>
          </a:prstGeom>
          <a:solidFill>
            <a:srgbClr val="1C7293">
              <a:alpha val="30000"/>
            </a:srgbClr>
          </a:solidFill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840480"/>
            <a:ext cx="1463040" cy="1737360"/>
          </a:xfrm>
          <a:prstGeom prst="can">
            <a:avLst/>
          </a:prstGeom>
          <a:solidFill>
            <a:srgbClr val="F2994A">
              <a:alpha val="25000"/>
            </a:srgbClr>
          </a:solidFill>
          <a:ln w="19050">
            <a:solidFill>
              <a:srgbClr val="F2994A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 ·  BL2 – UNDERSTAND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EER Model: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&amp; Specialization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entity hierarchies through a University case study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502920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Model: Generalization &amp; Specialization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Processes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 (Top-Down)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9377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a general entity, identify distinguishing sub-groups that have unique attributes or relationships.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PERSON is specialized into STUDENT and EMPLOYEE, each with attributes the other doesn't need.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BEFE3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562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 (Bottom-Up)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49377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several entities with common attributes, synthesize a higher-level general entity that captures the shared features.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UNDERGRADUATE and GRADUATE are generalized into STUDENT.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Model: Generalization &amp; Specialization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DIAGRAM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ISA Hierarchy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892040" y="1417320"/>
            <a:ext cx="2377440" cy="640080"/>
          </a:xfrm>
          <a:prstGeom prst="rect">
            <a:avLst/>
          </a:prstGeom>
          <a:solidFill>
            <a:srgbClr val="071E3D"/>
          </a:solidFill>
          <a:ln/>
        </p:spPr>
      </p:sp>
      <p:sp>
        <p:nvSpPr>
          <p:cNvPr id="5" name="Text 3"/>
          <p:cNvSpPr/>
          <p:nvPr/>
        </p:nvSpPr>
        <p:spPr>
          <a:xfrm>
            <a:off x="4892040" y="1417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49240" y="2377440"/>
            <a:ext cx="146304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/>
          <p:nvPr/>
        </p:nvSpPr>
        <p:spPr>
          <a:xfrm>
            <a:off x="534924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2057400"/>
            <a:ext cx="9144" cy="32004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3246120"/>
            <a:ext cx="2377440" cy="59436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3246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3246120"/>
            <a:ext cx="2377440" cy="59436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246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0" y="2651760"/>
            <a:ext cx="2194560" cy="59436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651760"/>
            <a:ext cx="2194560" cy="59436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4114800"/>
            <a:ext cx="118872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4114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840480"/>
            <a:ext cx="9144" cy="27432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892040"/>
            <a:ext cx="228600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92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4892040"/>
            <a:ext cx="228600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4892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00200" y="4343400"/>
            <a:ext cx="1280160" cy="54864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4343400"/>
            <a:ext cx="594360" cy="54864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4114800"/>
            <a:ext cx="118872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4114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61120" y="3840480"/>
            <a:ext cx="9144" cy="27432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4892040"/>
            <a:ext cx="219456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892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52560" y="4892040"/>
            <a:ext cx="219456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9052560" y="4892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80960" y="4343400"/>
            <a:ext cx="548640" cy="54864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4343400"/>
            <a:ext cx="1280160" cy="54864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disjoint, total (undergrad vs graduate — mutually exclusive, all students covered)      o = overlapping (a person can be both faculty &amp; staff)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Model: Generalization &amp; Specialization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DISJOINT/OVERLAPPING · TOTAL/PARTIAL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 Constraints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10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(d)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instance can belong to at most one subclass. A STUDENT is either UNDERGRAD or GRADUATE, never both.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10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(o)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instance may belong to more than one subclass. A PERSON can be both FACULTY and STAFF simultaneously.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096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480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 of the superclass must belong to at least one subclass — no PERSON exists outside STUDENT/EMPLOYEE in this model.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931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4096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4480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superclass instances may not belong to any subclass — e.g. a general PERSON who is neither student nor employee (visitor).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Model: Generalization &amp; Specialization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EER Matters 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10607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Generalization/specialization captures real-world hierarchies (Person → Student/Employee) that plain ER cannot express cleanly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Disjoint/overlapping and total/partial constraints precisely define how subclasses relate to their superclass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example shows inheritance: STUDENT and EMPLOYEE inherit all PERSON attributes (name, ID, DOB) automatically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diagrams map naturally onto relational schemas using strategies such as single-table, subclass tables, or shared-key tables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Model: Generalization &amp; Specialization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2026-07-31T06:14:08Z</dcterms:created>
  <dcterms:modified xsi:type="dcterms:W3CDTF">2026-07-31T06:14:08Z</dcterms:modified>
</cp:coreProperties>
</file>