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2377440" cy="2743200"/>
          </a:xfrm>
          <a:prstGeom prst="can">
            <a:avLst/>
          </a:prstGeom>
          <a:solidFill>
            <a:srgbClr val="1C7293">
              <a:alpha val="30000"/>
            </a:srgbClr>
          </a:solidFill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840480"/>
            <a:ext cx="1463040" cy="1737360"/>
          </a:xfrm>
          <a:prstGeom prst="can">
            <a:avLst/>
          </a:prstGeom>
          <a:solidFill>
            <a:srgbClr val="F2994A">
              <a:alpha val="25000"/>
            </a:srgbClr>
          </a:solidFill>
          <a:ln w="19050">
            <a:solidFill>
              <a:srgbClr val="F2994A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  ·  BL1 – REMEMBER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Components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a DBMS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Processor, Storage Manager and Transaction Manager, explained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709160"/>
            <a:ext cx="502920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Software Components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Component Overview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480560" y="1417320"/>
            <a:ext cx="3200400" cy="640080"/>
          </a:xfrm>
          <a:prstGeom prst="rect">
            <a:avLst/>
          </a:prstGeom>
          <a:solidFill>
            <a:srgbClr val="071E3D"/>
          </a:solidFill>
          <a:ln/>
        </p:spPr>
      </p:sp>
      <p:sp>
        <p:nvSpPr>
          <p:cNvPr id="5" name="Text 3"/>
          <p:cNvSpPr/>
          <p:nvPr/>
        </p:nvSpPr>
        <p:spPr>
          <a:xfrm>
            <a:off x="4480560" y="1417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User Query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80760" y="2057400"/>
            <a:ext cx="9144" cy="274320"/>
          </a:xfrm>
          <a:prstGeom prst="line">
            <a:avLst/>
          </a:prstGeom>
          <a:noFill/>
          <a:ln w="31750">
            <a:solidFill>
              <a:srgbClr val="5B6B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0" y="2331720"/>
            <a:ext cx="4572000" cy="64008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971800"/>
            <a:ext cx="9144" cy="274320"/>
          </a:xfrm>
          <a:prstGeom prst="line">
            <a:avLst/>
          </a:prstGeom>
          <a:noFill/>
          <a:ln w="31750">
            <a:solidFill>
              <a:srgbClr val="5B6B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3246120"/>
            <a:ext cx="457200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794760" y="3246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3886200"/>
            <a:ext cx="9144" cy="274320"/>
          </a:xfrm>
          <a:prstGeom prst="line">
            <a:avLst/>
          </a:prstGeom>
          <a:noFill/>
          <a:ln w="31750">
            <a:solidFill>
              <a:srgbClr val="5B6B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94760" y="4160520"/>
            <a:ext cx="4572000" cy="64008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4" name="Text 12"/>
          <p:cNvSpPr/>
          <p:nvPr/>
        </p:nvSpPr>
        <p:spPr>
          <a:xfrm>
            <a:off x="3794760" y="4160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4800600"/>
            <a:ext cx="9144" cy="274320"/>
          </a:xfrm>
          <a:prstGeom prst="line">
            <a:avLst/>
          </a:prstGeom>
          <a:noFill/>
          <a:ln w="31750">
            <a:solidFill>
              <a:srgbClr val="5B6B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5074920"/>
            <a:ext cx="3200400" cy="640080"/>
          </a:xfrm>
          <a:prstGeom prst="rect">
            <a:avLst/>
          </a:prstGeom>
          <a:solidFill>
            <a:srgbClr val="071E3D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5074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Database (Disk)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flows top to bottom — parsed, optimized, executed under transaction control, and finally read from or written to physical storage.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Software Components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Query Processor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3108960"/>
          </a:xfrm>
          <a:prstGeom prst="flowChartProcess">
            <a:avLst/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declarative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into 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execution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691640"/>
            <a:ext cx="8046720" cy="3108960"/>
          </a:xfrm>
          <a:prstGeom prst="roundRect">
            <a:avLst>
              <a:gd name="adj" fmla="val 2353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94760" y="185623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Sub-Components &amp; Role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94760" y="2258568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DDL/DML Compiler — parses SQL statements and checks syntax and semantics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Optimizer — evaluates multiple execution plans and picks the lowest-cost one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Evaluation Engine — executes the chosen plan, retrieving and combining data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closely with the storage manager's statistics (indexes, table sizes) to make cost estimates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Software Components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Storage Manager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3108960"/>
          </a:xfrm>
          <a:prstGeom prst="can">
            <a:avLst/>
          </a:prstGeom>
          <a:solidFill>
            <a:srgbClr val="F299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data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disk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691640"/>
            <a:ext cx="8046720" cy="3108960"/>
          </a:xfrm>
          <a:prstGeom prst="roundRect">
            <a:avLst>
              <a:gd name="adj" fmla="val 2353"/>
            </a:avLst>
          </a:prstGeom>
          <a:solidFill>
            <a:srgbClr val="FBEFE3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94760" y="185623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Sub-Components &amp; Role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94760" y="2258568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&amp; Integrity Manager — checks access rights and enforces constraints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Buffer Manager — manages disk space allocation and memory buffer/cache of pages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Index/Access-Method Manager — maintains B+ trees and hash indexes for fast lookups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low-level read/write operations that the query processor relies 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Software Components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Transaction Manager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3108960"/>
          </a:xfrm>
          <a:prstGeom prst="flowChartDecision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ACID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691640"/>
            <a:ext cx="8046720" cy="3108960"/>
          </a:xfrm>
          <a:prstGeom prst="roundRect">
            <a:avLst>
              <a:gd name="adj" fmla="val 2353"/>
            </a:avLst>
          </a:prstGeom>
          <a:solidFill>
            <a:srgbClr val="E4F0EC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94760" y="185623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Sub-Components &amp; Role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94760" y="2258568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 Manager — uses locking/timestamping so parallel transactions don't conflict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Manager — maintains logs (write-ahead logging) to restore consistency after a crash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Atomicity, Consistency, Isolation and Durability (ACID) for every committed transaction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guarantees a bank transfer either fully completes or fully rolls back — never leaves funds 'in limbo'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Software Components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2026-07-31T06:15:43Z</dcterms:created>
  <dcterms:modified xsi:type="dcterms:W3CDTF">2026-07-31T06:15:43Z</dcterms:modified>
</cp:coreProperties>
</file>