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822960"/>
            <a:ext cx="2377440" cy="2743200"/>
          </a:xfrm>
          <a:prstGeom prst="can">
            <a:avLst/>
          </a:prstGeom>
          <a:solidFill>
            <a:srgbClr val="1C7293">
              <a:alpha val="30000"/>
            </a:srgbClr>
          </a:solidFill>
          <a:ln w="1905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64040" y="3840480"/>
            <a:ext cx="1463040" cy="1737360"/>
          </a:xfrm>
          <a:prstGeom prst="can">
            <a:avLst/>
          </a:prstGeom>
          <a:solidFill>
            <a:srgbClr val="F2994A">
              <a:alpha val="25000"/>
            </a:srgbClr>
          </a:solidFill>
          <a:ln w="19050">
            <a:solidFill>
              <a:srgbClr val="F2994A">
                <a:alpha val="5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5  ·  BL2 – UNDERSTAND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86868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 Diagram for an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Online Library System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3611880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Entities, attributes and relationships that model books, members and loans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4709160"/>
            <a:ext cx="502920" cy="54864"/>
          </a:xfrm>
          <a:prstGeom prst="rect">
            <a:avLst/>
          </a:prstGeom>
          <a:solidFill>
            <a:srgbClr val="F2994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846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Management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Diagram: Online Library System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BLOCKS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7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Entities &amp; Their Attributes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06040" cy="502920"/>
          </a:xfrm>
          <a:prstGeom prst="rect">
            <a:avLst/>
          </a:prstGeom>
          <a:solidFill>
            <a:srgbClr val="0B4F6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4592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212848"/>
            <a:ext cx="2606040" cy="411480"/>
          </a:xfrm>
          <a:prstGeom prst="rect">
            <a:avLst/>
          </a:prstGeom>
          <a:solidFill>
            <a:srgbClr val="FBEFE3"/>
          </a:solidFill>
          <a:ln w="9525">
            <a:solidFill>
              <a:srgbClr val="D7E2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212848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book_id (PK)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670048"/>
            <a:ext cx="2606040" cy="411480"/>
          </a:xfrm>
          <a:prstGeom prst="rect">
            <a:avLst/>
          </a:prstGeom>
          <a:solidFill>
            <a:srgbClr val="EAF3F6"/>
          </a:solidFill>
          <a:ln w="9525">
            <a:solidFill>
              <a:srgbClr val="D7E2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670048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3127248"/>
            <a:ext cx="2606040" cy="411480"/>
          </a:xfrm>
          <a:prstGeom prst="rect">
            <a:avLst/>
          </a:prstGeom>
          <a:solidFill>
            <a:srgbClr val="EAF3F6"/>
          </a:solidFill>
          <a:ln w="9525">
            <a:solidFill>
              <a:srgbClr val="D7E2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127248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584448"/>
            <a:ext cx="2606040" cy="411480"/>
          </a:xfrm>
          <a:prstGeom prst="rect">
            <a:avLst/>
          </a:prstGeom>
          <a:solidFill>
            <a:srgbClr val="EAF3F6"/>
          </a:solidFill>
          <a:ln w="9525">
            <a:solidFill>
              <a:srgbClr val="D7E2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584448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copies_available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383280" y="1645920"/>
            <a:ext cx="2606040" cy="5029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3383280" y="164592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383280" y="2212848"/>
            <a:ext cx="2606040" cy="411480"/>
          </a:xfrm>
          <a:prstGeom prst="rect">
            <a:avLst/>
          </a:prstGeom>
          <a:solidFill>
            <a:srgbClr val="FBEFE3"/>
          </a:solidFill>
          <a:ln w="9525">
            <a:solidFill>
              <a:srgbClr val="D7E2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0" y="2212848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member_id (PK)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383280" y="2670048"/>
            <a:ext cx="2606040" cy="411480"/>
          </a:xfrm>
          <a:prstGeom prst="rect">
            <a:avLst/>
          </a:prstGeom>
          <a:solidFill>
            <a:srgbClr val="EAF3F6"/>
          </a:solidFill>
          <a:ln w="9525">
            <a:solidFill>
              <a:srgbClr val="D7E2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0" y="2670048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383280" y="3127248"/>
            <a:ext cx="2606040" cy="411480"/>
          </a:xfrm>
          <a:prstGeom prst="rect">
            <a:avLst/>
          </a:prstGeom>
          <a:solidFill>
            <a:srgbClr val="EAF3F6"/>
          </a:solidFill>
          <a:ln w="9525">
            <a:solidFill>
              <a:srgbClr val="D7E2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0" y="3127248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383280" y="3584448"/>
            <a:ext cx="2606040" cy="411480"/>
          </a:xfrm>
          <a:prstGeom prst="rect">
            <a:avLst/>
          </a:prstGeom>
          <a:solidFill>
            <a:srgbClr val="EAF3F6"/>
          </a:solidFill>
          <a:ln w="9525">
            <a:solidFill>
              <a:srgbClr val="D7E2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0" y="3584448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17920" y="1645920"/>
            <a:ext cx="2606040" cy="502920"/>
          </a:xfrm>
          <a:prstGeom prst="rect">
            <a:avLst/>
          </a:prstGeom>
          <a:solidFill>
            <a:srgbClr val="071E3D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0" y="164592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217920" y="2212848"/>
            <a:ext cx="2606040" cy="411480"/>
          </a:xfrm>
          <a:prstGeom prst="rect">
            <a:avLst/>
          </a:prstGeom>
          <a:solidFill>
            <a:srgbClr val="FBEFE3"/>
          </a:solidFill>
          <a:ln w="9525">
            <a:solidFill>
              <a:srgbClr val="D7E2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2212848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author_id (PK)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217920" y="2670048"/>
            <a:ext cx="2606040" cy="411480"/>
          </a:xfrm>
          <a:prstGeom prst="rect">
            <a:avLst/>
          </a:prstGeom>
          <a:solidFill>
            <a:srgbClr val="EAF3F6"/>
          </a:solidFill>
          <a:ln w="9525">
            <a:solidFill>
              <a:srgbClr val="D7E2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0" y="2670048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217920" y="3127248"/>
            <a:ext cx="2606040" cy="411480"/>
          </a:xfrm>
          <a:prstGeom prst="rect">
            <a:avLst/>
          </a:prstGeom>
          <a:solidFill>
            <a:srgbClr val="EAF3F6"/>
          </a:solidFill>
          <a:ln w="9525">
            <a:solidFill>
              <a:srgbClr val="D7E2E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0" y="3127248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nationality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9052560" y="1645920"/>
            <a:ext cx="2606040" cy="502920"/>
          </a:xfrm>
          <a:prstGeom prst="rect">
            <a:avLst/>
          </a:prstGeom>
          <a:solidFill>
            <a:srgbClr val="F2994A"/>
          </a:solidFill>
          <a:ln/>
        </p:spPr>
      </p:sp>
      <p:sp>
        <p:nvSpPr>
          <p:cNvPr id="33" name="Text 31"/>
          <p:cNvSpPr/>
          <p:nvPr/>
        </p:nvSpPr>
        <p:spPr>
          <a:xfrm>
            <a:off x="9052560" y="164592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9052560" y="2212848"/>
            <a:ext cx="2606040" cy="411480"/>
          </a:xfrm>
          <a:prstGeom prst="rect">
            <a:avLst/>
          </a:prstGeom>
          <a:solidFill>
            <a:srgbClr val="FBEFE3"/>
          </a:solidFill>
          <a:ln w="9525">
            <a:solidFill>
              <a:srgbClr val="D7E2E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052560" y="2212848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loan_id (PK)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9052560" y="2670048"/>
            <a:ext cx="2606040" cy="411480"/>
          </a:xfrm>
          <a:prstGeom prst="rect">
            <a:avLst/>
          </a:prstGeom>
          <a:solidFill>
            <a:srgbClr val="EAF3F6"/>
          </a:solidFill>
          <a:ln w="9525">
            <a:solidFill>
              <a:srgbClr val="D7E2E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052560" y="2670048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issue_date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9052560" y="3127248"/>
            <a:ext cx="2606040" cy="411480"/>
          </a:xfrm>
          <a:prstGeom prst="rect">
            <a:avLst/>
          </a:prstGeom>
          <a:solidFill>
            <a:srgbClr val="EAF3F6"/>
          </a:solidFill>
          <a:ln w="9525">
            <a:solidFill>
              <a:srgbClr val="D7E2E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052560" y="3127248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due_date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9052560" y="3584448"/>
            <a:ext cx="2606040" cy="411480"/>
          </a:xfrm>
          <a:prstGeom prst="rect">
            <a:avLst/>
          </a:prstGeom>
          <a:solidFill>
            <a:srgbClr val="EAF3F6"/>
          </a:solidFill>
          <a:ln w="9525">
            <a:solidFill>
              <a:srgbClr val="D7E2E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052560" y="3584448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return_date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48640" y="45720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entity is a real-world object worth tracking; each attribute describes one property of that entity. Primary keys (highlighted) uniquely identify every record.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Diagram: Online Library System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MODEL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7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Complete ER Diagram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2743200"/>
            <a:ext cx="2103120" cy="7315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7432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0" y="1280160"/>
            <a:ext cx="2103120" cy="731520"/>
          </a:xfrm>
          <a:prstGeom prst="rect">
            <a:avLst/>
          </a:prstGeom>
          <a:solidFill>
            <a:srgbClr val="071E3D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0" y="128016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418320" y="2743200"/>
            <a:ext cx="2103120" cy="731520"/>
          </a:xfrm>
          <a:prstGeom prst="rect">
            <a:avLst/>
          </a:prstGeom>
          <a:solidFill>
            <a:srgbClr val="0B4F6C"/>
          </a:solidFill>
          <a:ln/>
        </p:spPr>
      </p:sp>
      <p:sp>
        <p:nvSpPr>
          <p:cNvPr id="9" name="Text 7"/>
          <p:cNvSpPr/>
          <p:nvPr/>
        </p:nvSpPr>
        <p:spPr>
          <a:xfrm>
            <a:off x="9418320" y="27432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46120" y="2788920"/>
            <a:ext cx="1463040" cy="685800"/>
          </a:xfrm>
          <a:prstGeom prst="diamond">
            <a:avLst/>
          </a:prstGeom>
          <a:solidFill>
            <a:srgbClr val="F2994A"/>
          </a:solidFill>
          <a:ln/>
        </p:spPr>
      </p:sp>
      <p:sp>
        <p:nvSpPr>
          <p:cNvPr id="11" name="Text 9"/>
          <p:cNvSpPr/>
          <p:nvPr/>
        </p:nvSpPr>
        <p:spPr>
          <a:xfrm>
            <a:off x="3246120" y="278892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903720" y="2011680"/>
            <a:ext cx="1554480" cy="685800"/>
          </a:xfrm>
          <a:prstGeom prst="diamond">
            <a:avLst/>
          </a:prstGeom>
          <a:solidFill>
            <a:srgbClr val="F2994A"/>
          </a:solidFill>
          <a:ln/>
        </p:spPr>
      </p:sp>
      <p:sp>
        <p:nvSpPr>
          <p:cNvPr id="13" name="Text 11"/>
          <p:cNvSpPr/>
          <p:nvPr/>
        </p:nvSpPr>
        <p:spPr>
          <a:xfrm>
            <a:off x="6903720" y="201168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0" y="3108960"/>
            <a:ext cx="502920" cy="9144"/>
          </a:xfrm>
          <a:prstGeom prst="line">
            <a:avLst/>
          </a:prstGeom>
          <a:noFill/>
          <a:ln w="25400">
            <a:solidFill>
              <a:srgbClr val="5B6B7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09160" y="3108960"/>
            <a:ext cx="320040" cy="9144"/>
          </a:xfrm>
          <a:prstGeom prst="line">
            <a:avLst/>
          </a:prstGeom>
          <a:noFill/>
          <a:ln w="25400">
            <a:solidFill>
              <a:srgbClr val="5B6B7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88920" y="28346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1E3D"/>
                </a:solidFill>
              </a:rPr>
              <a:t>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09160" y="28346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1E3D"/>
                </a:solidFill>
              </a:rPr>
              <a:t>M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80760" y="2011680"/>
            <a:ext cx="960120" cy="338328"/>
          </a:xfrm>
          <a:prstGeom prst="line">
            <a:avLst/>
          </a:prstGeom>
          <a:noFill/>
          <a:ln w="25400">
            <a:solidFill>
              <a:srgbClr val="5B6B7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58200" y="2350008"/>
            <a:ext cx="960120" cy="576072"/>
          </a:xfrm>
          <a:prstGeom prst="line">
            <a:avLst/>
          </a:prstGeom>
          <a:noFill/>
          <a:ln w="25400">
            <a:solidFill>
              <a:srgbClr val="5B6B7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1965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1E3D"/>
                </a:solidFill>
              </a:rPr>
              <a:t>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503920" y="2377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1E3D"/>
                </a:solidFill>
              </a:rPr>
              <a:t>M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91840" y="4160520"/>
            <a:ext cx="3291840" cy="685800"/>
          </a:xfrm>
          <a:prstGeom prst="rect">
            <a:avLst/>
          </a:prstGeom>
          <a:solidFill>
            <a:srgbClr val="8C4A08"/>
          </a:solidFill>
          <a:ln/>
        </p:spPr>
      </p:sp>
      <p:sp>
        <p:nvSpPr>
          <p:cNvPr id="23" name="Text 21"/>
          <p:cNvSpPr/>
          <p:nvPr/>
        </p:nvSpPr>
        <p:spPr>
          <a:xfrm>
            <a:off x="3291840" y="416052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 (issue_date, due_date)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977640" y="3474720"/>
            <a:ext cx="9144" cy="685800"/>
          </a:xfrm>
          <a:prstGeom prst="line">
            <a:avLst/>
          </a:prstGeom>
          <a:noFill/>
          <a:ln w="25400">
            <a:solidFill>
              <a:srgbClr val="5B6B73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4114800" y="36576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3"/>
                </a:solidFill>
              </a:rPr>
              <a:t>realized as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8640" y="51206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borrows Book (M:N, resolved via LOAN); Author writes Book (1:M).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Diagram: Online Library System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DIAGRAM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7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Explaining Each Component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49240" cy="2057400"/>
          </a:xfrm>
          <a:prstGeom prst="roundRect">
            <a:avLst>
              <a:gd name="adj" fmla="val 3556"/>
            </a:avLst>
          </a:prstGeom>
          <a:solidFill>
            <a:srgbClr val="EAF3F6"/>
          </a:solidFill>
          <a:ln/>
          <a:effectLst>
            <a:outerShdw sx="100000" sy="100000" kx="0" ky="0" algn="bl" rotWithShape="0" blurRad="76200" dist="25400" dir="5400000">
              <a:srgbClr val="9AAAB2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810512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Rectangles — Entities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77240" y="2194560"/>
            <a:ext cx="4892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 the distinct object types being modeled: MEMBER, AUTHOR, BOOK.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645920"/>
            <a:ext cx="5349240" cy="2057400"/>
          </a:xfrm>
          <a:prstGeom prst="roundRect">
            <a:avLst>
              <a:gd name="adj" fmla="val 3556"/>
            </a:avLst>
          </a:prstGeom>
          <a:solidFill>
            <a:srgbClr val="EAF3F6"/>
          </a:solidFill>
          <a:ln/>
          <a:effectLst>
            <a:outerShdw sx="100000" sy="100000" kx="0" ky="0" algn="bl" rotWithShape="0" blurRad="76200" dist="25400" dir="5400000">
              <a:srgbClr val="9AAAB2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0" y="1810512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Diamonds — Relationships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400800" y="2194560"/>
            <a:ext cx="4892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 how entities interact: BORROWS (member–book), WRITES (author–book).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931920"/>
            <a:ext cx="5349240" cy="2057400"/>
          </a:xfrm>
          <a:prstGeom prst="roundRect">
            <a:avLst>
              <a:gd name="adj" fmla="val 3556"/>
            </a:avLst>
          </a:prstGeom>
          <a:solidFill>
            <a:srgbClr val="EAF3F6"/>
          </a:solidFill>
          <a:ln/>
          <a:effectLst>
            <a:outerShdw sx="100000" sy="100000" kx="0" ky="0" algn="bl" rotWithShape="0" blurRad="76200" dist="25400" dir="5400000">
              <a:srgbClr val="9AAAB2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4096512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Cardinality Labels (1, M)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77240" y="4480560"/>
            <a:ext cx="4892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how many instances participate: one member can borrow many books (1:M) and books can have many authors (M:N).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72200" y="3931920"/>
            <a:ext cx="5349240" cy="2057400"/>
          </a:xfrm>
          <a:prstGeom prst="roundRect">
            <a:avLst>
              <a:gd name="adj" fmla="val 3556"/>
            </a:avLst>
          </a:prstGeom>
          <a:solidFill>
            <a:srgbClr val="EAF3F6"/>
          </a:solidFill>
          <a:ln/>
          <a:effectLst>
            <a:outerShdw sx="100000" sy="100000" kx="0" ky="0" algn="bl" rotWithShape="0" blurRad="76200" dist="25400" dir="5400000">
              <a:srgbClr val="9AAAB2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0" y="4096512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C4A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Associative Entity — LOAN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400800" y="4480560"/>
            <a:ext cx="4892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relationship-specific data (issue/due/return dates) that belongs to neither MEMBER nor BOOK alone.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Diagram: Online Library System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7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Design Works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4114800"/>
          </a:xfrm>
          <a:prstGeom prst="roundRect">
            <a:avLst>
              <a:gd name="adj" fmla="val 1778"/>
            </a:avLst>
          </a:prstGeom>
          <a:solidFill>
            <a:srgbClr val="EAF3F6"/>
          </a:solidFill>
          <a:ln/>
          <a:effectLst>
            <a:outerShdw sx="100000" sy="100000" kx="0" ky="0" algn="bl" rotWithShape="0" blurRad="76200" dist="25400" dir="5400000">
              <a:srgbClr val="9AAAB2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856232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7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Highlights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77240" y="2258568"/>
            <a:ext cx="106070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entity has a clear primary key, ensuring each book, member, author and loan is uniquely identifiable</a:t>
            </a:r>
            <a:endParaRPr lang="en-US" sz="15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M:N relationship between MEMBER and BOOK is correctly resolved via the LOAN entity, avoiding data anomalies</a:t>
            </a:r>
            <a:endParaRPr lang="en-US" sz="15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 are placed on the entity or relationship they truly describe (e.g. issue_date belongs to LOAN, not BOOK)</a:t>
            </a:r>
            <a:endParaRPr lang="en-US" sz="15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ER model translates directly into a normalized relational schema, ready for implementation in any RDBMS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Diagram: Online Library System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2026-07-31T06:11:57Z</dcterms:created>
  <dcterms:modified xsi:type="dcterms:W3CDTF">2026-07-31T06:11:57Z</dcterms:modified>
</cp:coreProperties>
</file>