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822960"/>
            <a:ext cx="2377440" cy="2743200"/>
          </a:xfrm>
          <a:prstGeom prst="can">
            <a:avLst/>
          </a:prstGeom>
          <a:solidFill>
            <a:srgbClr val="1C7293">
              <a:alpha val="30000"/>
            </a:srgbClr>
          </a:solidFill>
          <a:ln w="1905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3840480"/>
            <a:ext cx="1463040" cy="1737360"/>
          </a:xfrm>
          <a:prstGeom prst="can">
            <a:avLst/>
          </a:prstGeom>
          <a:solidFill>
            <a:srgbClr val="F2994A">
              <a:alpha val="25000"/>
            </a:srgbClr>
          </a:solidFill>
          <a:ln w="19050">
            <a:solidFill>
              <a:srgbClr val="F2994A">
                <a:alpha val="5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10  ·  BL2 – UNDERSTAND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EER Diagram Walkthrough: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Chain Management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design covering stores, staff, products, customers and orders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709160"/>
            <a:ext cx="502920" cy="54864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846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Design: Retail Chain Management System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INVOLVED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the System Scope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562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store_id, location, region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69164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18562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26280" y="224028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emp_id, name, role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69164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75320" y="18562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75320" y="224028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product_id, name, price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1422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77240" y="452628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cust_id, name, loyalty_tier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97680" y="397764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26280" y="41422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26280" y="452628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order_id, date, total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chain spans multiple stores, each staffed by employees, stocking products, and serving customers who place orders — the core entities the EER model must capture.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Design: Retail Chain Management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EER Diagram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286000" cy="640080"/>
          </a:xfrm>
          <a:prstGeom prst="rect">
            <a:avLst/>
          </a:prstGeom>
          <a:solidFill>
            <a:srgbClr val="071E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788920"/>
            <a:ext cx="1645920" cy="502920"/>
          </a:xfrm>
          <a:prstGeom prst="diamond">
            <a:avLst/>
          </a:prstGeom>
          <a:solidFill>
            <a:srgbClr val="F299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88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00200" y="2468880"/>
            <a:ext cx="9144" cy="320040"/>
          </a:xfrm>
          <a:prstGeom prst="line">
            <a:avLst/>
          </a:prstGeom>
          <a:noFill/>
          <a:ln w="22860">
            <a:solidFill>
              <a:srgbClr val="5B6B7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611880"/>
            <a:ext cx="2286000" cy="64008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611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600200" y="3291840"/>
            <a:ext cx="9144" cy="320040"/>
          </a:xfrm>
          <a:prstGeom prst="line">
            <a:avLst/>
          </a:prstGeom>
          <a:noFill/>
          <a:ln w="22860">
            <a:solidFill>
              <a:srgbClr val="5B6B7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788920"/>
            <a:ext cx="1645920" cy="502920"/>
          </a:xfrm>
          <a:prstGeom prst="diamond">
            <a:avLst/>
          </a:prstGeom>
          <a:solidFill>
            <a:srgbClr val="F2994A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2788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0" y="2148840"/>
            <a:ext cx="640080" cy="868680"/>
          </a:xfrm>
          <a:prstGeom prst="line">
            <a:avLst/>
          </a:prstGeom>
          <a:noFill/>
          <a:ln w="22860">
            <a:solidFill>
              <a:srgbClr val="5B6B7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0" y="1828800"/>
            <a:ext cx="2286000" cy="64008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1828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0" y="2286000"/>
            <a:ext cx="365760" cy="731520"/>
          </a:xfrm>
          <a:prstGeom prst="line">
            <a:avLst/>
          </a:prstGeom>
          <a:noFill/>
          <a:ln w="22860">
            <a:solidFill>
              <a:srgbClr val="5B6B7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606040"/>
            <a:ext cx="1005840" cy="38404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26060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37960" y="2468880"/>
            <a:ext cx="9144" cy="137160"/>
          </a:xfrm>
          <a:prstGeom prst="line">
            <a:avLst/>
          </a:prstGeom>
          <a:noFill/>
          <a:ln w="22860">
            <a:solidFill>
              <a:srgbClr val="5B6B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40680" y="3337560"/>
            <a:ext cx="160020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5440680" y="33375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03720" y="3337560"/>
            <a:ext cx="160020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33375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2990088"/>
            <a:ext cx="91440" cy="347472"/>
          </a:xfrm>
          <a:prstGeom prst="line">
            <a:avLst/>
          </a:prstGeom>
          <a:noFill/>
          <a:ln w="16510">
            <a:solidFill>
              <a:srgbClr val="5B6B7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0" y="2990088"/>
            <a:ext cx="914400" cy="347472"/>
          </a:xfrm>
          <a:prstGeom prst="line">
            <a:avLst/>
          </a:prstGeom>
          <a:noFill/>
          <a:ln w="16510">
            <a:solidFill>
              <a:srgbClr val="5B6B7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0" y="1828800"/>
            <a:ext cx="2468880" cy="64008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464040" y="2788920"/>
            <a:ext cx="1645920" cy="502920"/>
          </a:xfrm>
          <a:prstGeom prst="diamond">
            <a:avLst/>
          </a:prstGeom>
          <a:solidFill>
            <a:srgbClr val="F2994A"/>
          </a:solidFill>
          <a:ln/>
        </p:spPr>
      </p:sp>
      <p:sp>
        <p:nvSpPr>
          <p:cNvPr id="30" name="Text 28"/>
          <p:cNvSpPr/>
          <p:nvPr/>
        </p:nvSpPr>
        <p:spPr>
          <a:xfrm>
            <a:off x="9464040" y="2788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287000" y="2468880"/>
            <a:ext cx="9144" cy="320040"/>
          </a:xfrm>
          <a:prstGeom prst="line">
            <a:avLst/>
          </a:prstGeom>
          <a:noFill/>
          <a:ln w="22860">
            <a:solidFill>
              <a:srgbClr val="5B6B7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00" y="3611880"/>
            <a:ext cx="2468880" cy="640080"/>
          </a:xfrm>
          <a:prstGeom prst="rect">
            <a:avLst/>
          </a:prstGeom>
          <a:solidFill>
            <a:srgbClr val="071E3D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0" y="3611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0287000" y="3291840"/>
            <a:ext cx="9144" cy="320040"/>
          </a:xfrm>
          <a:prstGeom prst="line">
            <a:avLst/>
          </a:prstGeom>
          <a:noFill/>
          <a:ln w="22860">
            <a:solidFill>
              <a:srgbClr val="5B6B7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20640" y="4709160"/>
            <a:ext cx="1828800" cy="502920"/>
          </a:xfrm>
          <a:prstGeom prst="diamond">
            <a:avLst/>
          </a:prstGeom>
          <a:solidFill>
            <a:srgbClr val="F2994A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4709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600200" y="4251960"/>
            <a:ext cx="1965960" cy="685800"/>
          </a:xfrm>
          <a:prstGeom prst="line">
            <a:avLst/>
          </a:prstGeom>
          <a:noFill/>
          <a:ln w="20320">
            <a:solidFill>
              <a:srgbClr val="5B6B73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6949440" y="4251960"/>
            <a:ext cx="3337560" cy="685800"/>
          </a:xfrm>
          <a:prstGeom prst="line">
            <a:avLst/>
          </a:prstGeom>
          <a:noFill/>
          <a:ln w="20320">
            <a:solidFill>
              <a:srgbClr val="5B6B73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297680" y="5486400"/>
            <a:ext cx="3657600" cy="594360"/>
          </a:xfrm>
          <a:prstGeom prst="rect">
            <a:avLst/>
          </a:prstGeom>
          <a:solidFill>
            <a:srgbClr val="8C4A08"/>
          </a:solidFill>
          <a:ln/>
        </p:spPr>
      </p:sp>
      <p:sp>
        <p:nvSpPr>
          <p:cNvPr id="40" name="Text 38"/>
          <p:cNvSpPr/>
          <p:nvPr/>
        </p:nvSpPr>
        <p:spPr>
          <a:xfrm>
            <a:off x="4297680" y="54864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  (qty, unit_price)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035040" y="5212080"/>
            <a:ext cx="9144" cy="274320"/>
          </a:xfrm>
          <a:prstGeom prst="line">
            <a:avLst/>
          </a:prstGeom>
          <a:noFill/>
          <a:ln w="20320">
            <a:solidFill>
              <a:srgbClr val="5B6B73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employs EMPLOYEE (→ MANAGER/CASHIER); STORE stocks PRODUCT; CUSTOMER places ORDER; ORDER contains PRODUCT (M:N, resolved via ORDER_ITEM).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Design: Retail Chain Management System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KEYS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Walkthrough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1051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— EMPLOYEE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 "EMPLOYS". EMPLOYEE.store_id is a foreign key referencing STORE.store_id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81051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Specialization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(d) split into MANAGER and CASHIER, each inheriting emp_id, name, role from EMPLOYEE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09651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— PRODUCT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448056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M:N "STOCKS", resolved via an INVENTORY table holding store_id, product_id and stock_qty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393192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409651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— ORDER — PRODUCT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0" y="448056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places ORDER (1:N); ORDER contains PRODUCT (M:N) resolved via an ORDER_ITEM associative entity with quantity &amp; unit_price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Design: Retail Chain Management 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Outcome &amp; Benefits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562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258568"/>
            <a:ext cx="10607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many-to-many relationship (STOCKS, CONTAINS) is resolved into an associative entity carrying its own attributes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of EMPLOYEE into MANAGER/CASHIER avoids repeating shared attributes and supports role-specific data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(store_id, cust_id, order_id) enforce referential integrity between stores, staff, customers and orders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EER design scales cleanly to a normalized relational schema ready for a real retail-chain database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Design: Retail Chain Management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2026-07-31T06:17:54Z</dcterms:created>
  <dcterms:modified xsi:type="dcterms:W3CDTF">2026-07-31T06:17:54Z</dcterms:modified>
</cp:coreProperties>
</file>